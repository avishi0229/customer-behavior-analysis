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rygada 1918"/>
      <p:regular r:id="rId201314"/>
    </p:embeddedFont>
    <p:embeddedFont>
      <p:font typeface="Brygada 1918 SemiBold"/>
      <p:regular r:id="rId201315"/>
    </p:embeddedFont>
    <p:embeddedFont>
      <p:font typeface="Brygada 1918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Analysis of 3,900 transactions to surface spending patterns, segments, product preferences, and subscription effects to guide strategy.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3419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Dataset Snapshot</a:t>
            </a:r>
            <a:endParaRPr lang="en-US" sz="3700" dirty="0"/>
          </a:p>
        </p:txBody>
      </p:sp>
      <p:sp>
        <p:nvSpPr>
          <p:cNvPr id="5" name="Shape 1"/>
          <p:cNvSpPr/>
          <p:nvPr/>
        </p:nvSpPr>
        <p:spPr>
          <a:xfrm>
            <a:off x="5233360" y="2216051"/>
            <a:ext cx="3053877" cy="1706662"/>
          </a:xfrm>
          <a:prstGeom prst="roundRect">
            <a:avLst>
              <a:gd name="adj" fmla="val 16613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28717" y="241141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428717" y="2820095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3,900 rows · 18 columns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8476244" y="2216051"/>
            <a:ext cx="3053976" cy="1706662"/>
          </a:xfrm>
          <a:prstGeom prst="roundRect">
            <a:avLst>
              <a:gd name="adj" fmla="val 16613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71601" y="241141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671601" y="2820095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Demographics, purchase details, behavior signals (discounts, frequency, reviews)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233360" y="4111724"/>
            <a:ext cx="3053877" cy="1404243"/>
          </a:xfrm>
          <a:prstGeom prst="roundRect">
            <a:avLst>
              <a:gd name="adj" fmla="val 20191"/>
            </a:avLst>
          </a:prstGeom>
          <a:solidFill>
            <a:srgbClr val="E8AF3B"/>
          </a:solidFill>
          <a:ln w="6350">
            <a:solidFill>
              <a:srgbClr val="CE952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28717" y="4307086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428717" y="4715768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37 missing values in Review Rating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476244" y="4111724"/>
            <a:ext cx="3053976" cy="1404243"/>
          </a:xfrm>
          <a:prstGeom prst="roundRect">
            <a:avLst>
              <a:gd name="adj" fmla="val 20191"/>
            </a:avLst>
          </a:prstGeom>
          <a:solidFill>
            <a:srgbClr val="CC914D"/>
          </a:solidFill>
          <a:ln w="6350">
            <a:solidFill>
              <a:srgbClr val="B277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71601" y="4307086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Summary Stats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8671601" y="4715768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Avg purchase: $59.76 · Avg rating: 3.75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EDA &amp; Cleaning (Python)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3478312"/>
            <a:ext cx="5315512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Process</a:t>
            </a:r>
            <a:pPr algn="l" indent="0" marL="0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: Load with pandas, inspect with df.info() and .describe(), standardize column names to snake_case.</a:t>
            </a:r>
            <a:endParaRPr lang="en-US" sz="7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Missing Ratings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: Imputed using median rating per product category.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Feature Engineering &amp; Database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3500834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Created age_group bins and purchase_frequency_days. Checked redundancy and dropped promo_code_used. Integrated cleaned DataFrame into PostgreSQL for SQL analysis.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9495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Revenue &amp; Demographic Insights (SQL)</a:t>
            </a:r>
            <a:endParaRPr lang="en-US" sz="37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14290"/>
            <a:ext cx="472468" cy="472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942062" y="241429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Revenue by Gender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5942062" y="2822972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Female: 75,191 · Male: 157,890</a:t>
            </a:r>
            <a:endParaRPr lang="en-US" sz="14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503414"/>
            <a:ext cx="472468" cy="4724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42062" y="3503414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Revenue by Age Group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5942062" y="3912096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Young Adult: 62,143 · Middle-aged: 59,197 · Adult: 55,978 · Senior: 55,763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4894957"/>
            <a:ext cx="472468" cy="472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942062" y="4894957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Subscribers vs Non-Subscribers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5942062" y="5303639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Subscribers (1,053): avg $59.49 total 62,645 · Non-subs (2,847): avg $59.87 total 170,436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Product &amp; Discount Patterns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3022600"/>
            <a:ext cx="733307" cy="7333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02743" y="3022600"/>
            <a:ext cx="236392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Top Discounted Items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602743" y="3802162"/>
            <a:ext cx="236392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Hat 50%, Sneakers 49.66%, Coat 49.07%, Sweater 48.17%, Pants 47.37%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903" y="3022600"/>
            <a:ext cx="733307" cy="7333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72445" y="3022600"/>
            <a:ext cx="23640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Top Rated Items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172445" y="3506887"/>
            <a:ext cx="23640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Gloves 3.86 · Sandals 3.84 · Boots 3.82 · Hat 3.80 · Skirt 3.78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813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Behavioral Segments &amp; Frequency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703" y="1405731"/>
            <a:ext cx="5135533" cy="4396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3755" y="2599819"/>
            <a:ext cx="1980452" cy="495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New83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62768" y="2450181"/>
            <a:ext cx="1725193" cy="495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Returning701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3808973" y="4509903"/>
            <a:ext cx="1496341" cy="495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Loyal3,116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5958880"/>
            <a:ext cx="753557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Majority of customers fall into the Loyal segment (3,116).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084" y="1468140"/>
            <a:ext cx="3546485" cy="35465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90084" y="5171678"/>
            <a:ext cx="3546485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Frequency example: common cadence “Every 3 Months”. Repeat buyers (&gt;5 purchases) are more common among subscribers: Repeat buyers — No: 2,518 · Yes: 958.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651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Sales &amp; Shipping Insights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19746"/>
            <a:ext cx="6920831" cy="4369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9411" y="1425476"/>
            <a:ext cx="353706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Shipping comparison: Standard avg $58.46 · Express avg $60.48. Sales by category: Clothing 1,800 · Accessories 1,200 · Footwear 600 · Outerwear 200.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411" y="2612529"/>
            <a:ext cx="3537060" cy="35371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Dashboard Snapshot (Power BI)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412331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Key metrics: Number of Customers 3.9K · Average Purchase $59.76 · Avg Review 3.75. Donut: Subscribers 27% · Non-subs 73%. Visuals include revenue and sales by category and age group.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946" y="797421"/>
            <a:ext cx="3508684" cy="5263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759420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Business Recommendations</a:t>
            </a:r>
            <a:endParaRPr lang="en-US" sz="36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15579"/>
            <a:ext cx="3056853" cy="170924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74502" y="1827014"/>
            <a:ext cx="25323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974502" y="2227560"/>
            <a:ext cx="25323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Promote exclusive subscriber benefits to increase recurring revenue.</a:t>
            </a:r>
            <a:endParaRPr lang="en-US" sz="14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1481" y="1615579"/>
            <a:ext cx="3056853" cy="170924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214509" y="1827014"/>
            <a:ext cx="25323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Loyalty Programs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4214509" y="2227560"/>
            <a:ext cx="253239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Reward repeat buyers to move more customers into the Loyal segment.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507978"/>
            <a:ext cx="3056853" cy="259050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4502" y="3719413"/>
            <a:ext cx="25323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Review Discount Policy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974502" y="4119959"/>
            <a:ext cx="253239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Balance promotional lift with margin control — target high discount rates on selective SKUs.</a:t>
            </a:r>
            <a:endParaRPr lang="en-US" sz="14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81" y="3507978"/>
            <a:ext cx="3056853" cy="259050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214509" y="3719413"/>
            <a:ext cx="2532396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Product Positioning &amp; Targeting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4214509" y="4410670"/>
            <a:ext cx="2532396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Highlight top-rated and top-selling products; focus marketing on high-revenue age groups and express-shipping users.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2026-08-24T10:56:06Z</dcterms:created>
  <dcterms:modified xsi:type="dcterms:W3CDTF">2026-08-24T10:56:06Z</dcterms:modified>
</cp:coreProperties>
</file>